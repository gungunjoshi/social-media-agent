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90" r:id="rId2"/>
    <p:sldId id="291" r:id="rId3"/>
    <p:sldId id="292" r:id="rId4"/>
    <p:sldId id="293" r:id="rId5"/>
    <p:sldId id="294" r:id="rId6"/>
    <p:sldId id="295" r:id="rId7"/>
    <p:sldId id="296" r:id="rId8"/>
    <p:sldId id="297" r:id="rId9"/>
    <p:sldId id="301" r:id="rId10"/>
    <p:sldId id="305" r:id="rId11"/>
    <p:sldId id="307" r:id="rId12"/>
    <p:sldId id="308" r:id="rId13"/>
    <p:sldId id="309"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gungunjoshi/Social-media-agen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228534" y="154315"/>
            <a:ext cx="10515600" cy="2852737"/>
          </a:xfrm>
        </p:spPr>
        <p:txBody>
          <a:bodyPr>
            <a:normAutofit/>
          </a:bodyPr>
          <a:lstStyle/>
          <a:p>
            <a:pPr algn="ctr"/>
            <a:r>
              <a:rPr lang="en-IN" dirty="0"/>
              <a:t>SOCIAL MEDIA AGENT</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54194" y="3100855"/>
            <a:ext cx="10515600" cy="1500187"/>
          </a:xfrm>
        </p:spPr>
        <p:txBody>
          <a:bodyPr/>
          <a:lstStyle/>
          <a:p>
            <a:pPr algn="ctr"/>
            <a:r>
              <a:rPr lang="en-US" b="1" i="1" dirty="0"/>
              <a:t>“Exploring the World of Sociality”</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4725224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Gungun Joshi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jgungun90@gmail.com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7852017505</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AI/Machine learning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SOCIAL MEDIA AGENT</a:t>
            </a:r>
            <a:r>
              <a:rPr lang="en-US" sz="2400" b="1" dirty="0">
                <a:highlight>
                  <a:srgbClr val="FFFF00"/>
                </a:highlight>
              </a:rPr>
              <a:t>]</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7201972"/>
          </a:xfrm>
          <a:prstGeom prst="rect">
            <a:avLst/>
          </a:prstGeom>
          <a:noFill/>
        </p:spPr>
        <p:txBody>
          <a:bodyPr wrap="square" rtlCol="0">
            <a:spAutoFit/>
          </a:bodyPr>
          <a:lstStyle/>
          <a:p>
            <a:pPr fontAlgn="base"/>
            <a:r>
              <a:rPr lang="en-US" b="1" dirty="0"/>
              <a:t>Problem Statement : Social Media Agent</a:t>
            </a:r>
            <a:r>
              <a:rPr lang="en-US" dirty="0"/>
              <a:t> </a:t>
            </a:r>
          </a:p>
          <a:p>
            <a:pPr fontAlgn="base"/>
            <a:endParaRPr lang="en-US" b="1" dirty="0"/>
          </a:p>
          <a:p>
            <a:pPr fontAlgn="base"/>
            <a:r>
              <a:rPr lang="en-US" b="1" dirty="0"/>
              <a:t>The Challenge:-</a:t>
            </a:r>
            <a:endParaRPr lang="en-US" dirty="0"/>
          </a:p>
          <a:p>
            <a:pPr fontAlgn="base"/>
            <a:r>
              <a:rPr lang="en-US" dirty="0"/>
              <a:t>Social media is essential for brand growth, but businesses and content creators struggle with consistent content generation, multi-platform post scheduling, and timely audience interaction. Information on trend analysis and audience engagement metrics is scattered across disconnected platforms. Without personalized, real-time automation and strategy optimization, many accounts fail to maintain active presence, grow reach, or optimize marketing ROI.</a:t>
            </a:r>
          </a:p>
          <a:p>
            <a:pPr fontAlgn="base"/>
            <a:r>
              <a:rPr lang="en-US" dirty="0"/>
              <a:t>The Objective:-</a:t>
            </a:r>
          </a:p>
          <a:p>
            <a:pPr fontAlgn="base"/>
            <a:r>
              <a:rPr lang="en-US" dirty="0"/>
              <a:t>Build an AI-powered Social Media Agent that delivers autonomous social media management and actionable insights for brands, businesses, and creators. The solution should:</a:t>
            </a:r>
          </a:p>
          <a:p>
            <a:pPr fontAlgn="base"/>
            <a:r>
              <a:rPr lang="en-US" dirty="0"/>
              <a:t> * Personalized Content Strategies – Generate tailor-made post captions, graphics, and schedules based on brand voice, target audience, and current market trends.</a:t>
            </a:r>
          </a:p>
          <a:p>
            <a:pPr fontAlgn="base"/>
            <a:r>
              <a:rPr lang="en-US" dirty="0"/>
              <a:t> * Social Data &amp; Trend RAG Retrieval – Fetch and analyze real-time market trends, hashtag metrics, and competitor strategies from verified social media APIs and databases.</a:t>
            </a:r>
          </a:p>
          <a:p>
            <a:pPr fontAlgn="base"/>
            <a:r>
              <a:rPr lang="en-US" dirty="0"/>
              <a:t> * Multi-Platform Management &amp; Feedback – Allow users to draft and schedule posts across platforms (e.g., via text, image prompts, or direct input) and provide instant engagement analysis.</a:t>
            </a:r>
          </a:p>
          <a:p>
            <a:pPr fontAlgn="base"/>
            <a:r>
              <a:rPr lang="en-US" dirty="0"/>
              <a:t> * Targeted Campaign Focus – Recommend optimized posting times and campaign structures for maximum reach and conversion.</a:t>
            </a:r>
          </a:p>
          <a:p>
            <a:pPr fontAlgn="base"/>
            <a:r>
              <a:rPr lang="en-US" dirty="0"/>
              <a:t> * Multi-Agent System –</a:t>
            </a:r>
          </a:p>
          <a:p>
            <a:pPr fontAlgn="base"/>
            <a:r>
              <a:rPr lang="en-US" dirty="0"/>
              <a:t> * Social Trend Knowledge Agent (fetches viral trends, hashtags, and competitive intelligence)</a:t>
            </a:r>
          </a:p>
          <a:p>
            <a:pPr fontAlgn="base"/>
            <a:r>
              <a:rPr lang="en-US" dirty="0"/>
              <a:t> * Content Generation Agent (creates personalized captions, hashtags, and media suggestions)</a:t>
            </a:r>
          </a:p>
          <a:p>
            <a:pPr fontAlgn="base"/>
            <a:r>
              <a:rPr lang="en-US" dirty="0"/>
              <a:t> * Engagement Advisory Agent (suggests community management strategies and optimal post timing)</a:t>
            </a:r>
          </a:p>
          <a:p>
            <a:pPr fontAlgn="base"/>
            <a:r>
              <a:rPr lang="en-US" dirty="0"/>
              <a:t> * Analytics &amp; Scheduling Agent (schedules posts and tracks real-time performance)</a:t>
            </a:r>
          </a:p>
          <a:p>
            <a:pPr fontAlgn="base"/>
            <a:r>
              <a:rPr lang="en-US" dirty="0"/>
              <a:t> * Visualization Dashboard – Show performance metrics, reach growth, and ROI progress toward marketing goals.</a:t>
            </a:r>
          </a:p>
          <a:p>
            <a:pPr fontAlgn="base"/>
            <a:endParaRPr lang="en-US" dirty="0"/>
          </a:p>
          <a:p>
            <a:pPr fontAlgn="base"/>
            <a:endParaRPr lang="en-US" dirty="0"/>
          </a:p>
          <a:p>
            <a:pPr fontAlgn="base"/>
            <a:endParaRPr lang="en-US" dirty="0"/>
          </a:p>
          <a:p>
            <a:pPr fontAlgn="base"/>
            <a:endParaRPr lang="en-US" dirty="0"/>
          </a:p>
          <a:p>
            <a:pPr fontAlgn="base"/>
            <a:r>
              <a:rPr lang="en-US" dirty="0"/>
              <a:t> </a:t>
            </a:r>
          </a:p>
          <a:p>
            <a:pPr fontAlgn="base"/>
            <a:endParaRPr lang="en-US" dirty="0"/>
          </a:p>
          <a:p>
            <a:pPr fontAlgn="base"/>
            <a:endParaRPr lang="en-US" dirty="0"/>
          </a:p>
          <a:p>
            <a:pPr fontAlgn="base"/>
            <a:r>
              <a:rPr lang="en-US" dirty="0"/>
              <a:t>.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66646" y="642689"/>
            <a:ext cx="10607040" cy="5909310"/>
          </a:xfrm>
          <a:prstGeom prst="rect">
            <a:avLst/>
          </a:prstGeom>
          <a:noFill/>
        </p:spPr>
        <p:txBody>
          <a:bodyPr wrap="square" rtlCol="0">
            <a:spAutoFit/>
          </a:bodyPr>
          <a:lstStyle/>
          <a:p>
            <a:r>
              <a:rPr lang="en-US" b="1" dirty="0"/>
              <a:t>PROPOSED SOLUTION:- AI-Powered Social Media Agent</a:t>
            </a:r>
          </a:p>
          <a:p>
            <a:endParaRPr lang="en-US" b="1" dirty="0"/>
          </a:p>
          <a:p>
            <a:r>
              <a:rPr lang="en-US" b="1" dirty="0"/>
              <a:t>The proposed solution is a multi-agent AI-powered Social Media Agent built using IBM Bob, IBM watsonx.ai, and Granite models to provide personalized, real-time social media management and strategy guidance. The system addresses challenges in content generation, campaign scheduling, audience engagement, and performance analytics through an intelligent, modular architecture.</a:t>
            </a:r>
          </a:p>
          <a:p>
            <a:r>
              <a:rPr lang="en-US" b="1" dirty="0"/>
              <a:t>At its core, the solution uses a Retrieval-Augmented Generation (RAG) pipeline to fetch accurate market trends, platform algorithms, and audience behavioral insights from trusted sources such as social media APIs and trend databases. This data is embedded and stored in a vector database, enabling the system to retrieve and summarize actionable engagement metrics and viral strategies using Granite models.</a:t>
            </a:r>
          </a:p>
          <a:p>
            <a:r>
              <a:rPr lang="en-US" b="1" dirty="0"/>
              <a:t>The system consists of four key agents:</a:t>
            </a:r>
          </a:p>
          <a:p>
            <a:r>
              <a:rPr lang="en-US" b="1" dirty="0"/>
              <a:t>Social Trend Knowledge Agent retrieves and summarizes viral trends, hashtag performance, and competitor intelligence using RAG.</a:t>
            </a:r>
          </a:p>
          <a:p>
            <a:r>
              <a:rPr lang="en-US" b="1" dirty="0"/>
              <a:t>Content Generation Agent creates personalized post captions, image/video prompts, hashtags, and tailored campaign copy aligned with brand voice and marketing goals.</a:t>
            </a:r>
          </a:p>
          <a:p>
            <a:r>
              <a:rPr lang="en-US" b="1" dirty="0"/>
              <a:t>Engagement Advisory Agent provides actionable audience management suggestions, optimal posting schedules, and automated response strategies for community building.</a:t>
            </a:r>
          </a:p>
          <a:p>
            <a:r>
              <a:rPr lang="en-US" b="1" dirty="0"/>
              <a:t>Analytics &amp; Scheduling Agent tracks multi-platform campaign performance, automates post scheduling, and analyzes post-level engagement metrics.</a:t>
            </a:r>
          </a:p>
          <a:p>
            <a:r>
              <a:rPr lang="en-US" b="1" dirty="0"/>
              <a:t>The solution includes a user-friendly dashboard (built with </a:t>
            </a:r>
            <a:r>
              <a:rPr lang="en-US" b="1" dirty="0" err="1"/>
              <a:t>Streamlit</a:t>
            </a:r>
            <a:r>
              <a:rPr lang="en-US" b="1" dirty="0"/>
              <a:t> or React) that visualizes daily and weekly performance metrics, tracks audience reach, and highlights engagement trends toward digital marketing goals.</a:t>
            </a:r>
          </a:p>
          <a:p>
            <a:r>
              <a:rPr lang="en-US" b="1" dirty="0"/>
              <a:t>IBM Bob is used to orchestrate agent workflows, while watsonx.ai ensures scalable model deployment, embeddings, and governance. Granite models power reasoning, content generation, and strategy personalization.</a:t>
            </a:r>
          </a:p>
          <a:p>
            <a:r>
              <a:rPr lang="en-US" b="1" dirty="0"/>
              <a:t>Overall, this solution delivers an end-to-end intelligent social media assistant that promotes audience growth and brand awareness through automated content generation, real-time engagement insights, and data-driven marketing strategy recommendations.</a:t>
            </a:r>
          </a:p>
          <a:p>
            <a:endParaRPr lang="en-IN"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508666"/>
            <a:ext cx="10515600" cy="4401205"/>
          </a:xfrm>
          <a:prstGeom prst="rect">
            <a:avLst/>
          </a:prstGeom>
          <a:noFill/>
        </p:spPr>
        <p:txBody>
          <a:bodyPr wrap="square" rtlCol="0">
            <a:spAutoFit/>
          </a:bodyPr>
          <a:lstStyle/>
          <a:p>
            <a:endParaRPr lang="en-US" sz="1800" dirty="0"/>
          </a:p>
          <a:p>
            <a:r>
              <a:rPr lang="en-US" sz="1800" dirty="0"/>
              <a:t>#Content Creation &amp; Strategy: Drafting high-converting captions, hooks, calls to action (CTAs), carousel outlines, and video scripts (Reels/TikTok/Shorts).</a:t>
            </a:r>
          </a:p>
          <a:p>
            <a:endParaRPr lang="en-US" sz="1800" dirty="0"/>
          </a:p>
          <a:p>
            <a:r>
              <a:rPr lang="en-US" sz="1800" dirty="0"/>
              <a:t>#Campaign &amp; Content Calendars: Structuring weekly or monthly posting schedules tailored to specific platforms (Instagram, LinkedIn, X, TikTok, YouTube).</a:t>
            </a:r>
          </a:p>
          <a:p>
            <a:endParaRPr lang="en-US" sz="1800" dirty="0"/>
          </a:p>
          <a:p>
            <a:r>
              <a:rPr lang="en-US" sz="1800" dirty="0"/>
              <a:t>#Analytics &amp; Performance Optimization: Analyzing post engagement, audience reach, conversion metrics, and suggesting data-driven improvements.</a:t>
            </a:r>
          </a:p>
          <a:p>
            <a:endParaRPr lang="en-US" sz="1800" dirty="0"/>
          </a:p>
          <a:p>
            <a:r>
              <a:rPr lang="en-US" sz="1800" dirty="0"/>
              <a:t>#Community Engagement: Drafting standard response frameworks, FAQ replies, or strategies for managing online community interactions.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301920" y="0"/>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62F390B7-650E-3D93-5E08-2CD8CE4C5F43}"/>
              </a:ext>
            </a:extLst>
          </p:cNvPr>
          <p:cNvPicPr>
            <a:picLocks noChangeAspect="1"/>
          </p:cNvPicPr>
          <p:nvPr/>
        </p:nvPicPr>
        <p:blipFill>
          <a:blip r:embed="rId3"/>
          <a:stretch>
            <a:fillRect/>
          </a:stretch>
        </p:blipFill>
        <p:spPr>
          <a:xfrm>
            <a:off x="3760370" y="394032"/>
            <a:ext cx="7468247" cy="6706181"/>
          </a:xfrm>
          <a:prstGeom prst="rect">
            <a:avLst/>
          </a:prstGeom>
        </p:spPr>
      </p:pic>
      <p:pic>
        <p:nvPicPr>
          <p:cNvPr id="12" name="Picture 11">
            <a:extLst>
              <a:ext uri="{FF2B5EF4-FFF2-40B4-BE49-F238E27FC236}">
                <a16:creationId xmlns:a16="http://schemas.microsoft.com/office/drawing/2014/main" id="{57D7FFF9-E0BC-36EC-1E18-EE0AED8665CD}"/>
              </a:ext>
            </a:extLst>
          </p:cNvPr>
          <p:cNvPicPr>
            <a:picLocks noChangeAspect="1"/>
          </p:cNvPicPr>
          <p:nvPr/>
        </p:nvPicPr>
        <p:blipFill>
          <a:blip r:embed="rId4"/>
          <a:stretch>
            <a:fillRect/>
          </a:stretch>
        </p:blipFill>
        <p:spPr>
          <a:xfrm>
            <a:off x="963383" y="937044"/>
            <a:ext cx="1638442" cy="2491956"/>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B689FBB3-B120-BEDC-37D5-63699AFFB5CA}"/>
              </a:ext>
            </a:extLst>
          </p:cNvPr>
          <p:cNvPicPr>
            <a:picLocks noChangeAspect="1"/>
          </p:cNvPicPr>
          <p:nvPr/>
        </p:nvPicPr>
        <p:blipFill>
          <a:blip r:embed="rId3"/>
          <a:stretch>
            <a:fillRect/>
          </a:stretch>
        </p:blipFill>
        <p:spPr>
          <a:xfrm>
            <a:off x="3764870" y="771747"/>
            <a:ext cx="4511431" cy="602032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1A7E9B-0A21-239C-E127-FBDFDAB82E55}"/>
              </a:ext>
            </a:extLst>
          </p:cNvPr>
          <p:cNvPicPr>
            <a:picLocks noChangeAspect="1"/>
          </p:cNvPicPr>
          <p:nvPr/>
        </p:nvPicPr>
        <p:blipFill>
          <a:blip r:embed="rId2"/>
          <a:stretch>
            <a:fillRect/>
          </a:stretch>
        </p:blipFill>
        <p:spPr>
          <a:xfrm>
            <a:off x="0" y="4174"/>
            <a:ext cx="12192000" cy="684965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7BA5DFBD-E1A2-3A85-D17A-0CB60F6C1879}"/>
              </a:ext>
            </a:extLst>
          </p:cNvPr>
          <p:cNvPicPr>
            <a:picLocks noChangeAspect="1"/>
          </p:cNvPicPr>
          <p:nvPr/>
        </p:nvPicPr>
        <p:blipFill>
          <a:blip r:embed="rId3"/>
          <a:stretch>
            <a:fillRect/>
          </a:stretch>
        </p:blipFill>
        <p:spPr>
          <a:xfrm>
            <a:off x="1335024" y="1408165"/>
            <a:ext cx="7910245" cy="2987299"/>
          </a:xfrm>
          <a:prstGeom prst="rect">
            <a:avLst/>
          </a:prstGeom>
        </p:spPr>
      </p:pic>
      <p:pic>
        <p:nvPicPr>
          <p:cNvPr id="7" name="Picture 6">
            <a:extLst>
              <a:ext uri="{FF2B5EF4-FFF2-40B4-BE49-F238E27FC236}">
                <a16:creationId xmlns:a16="http://schemas.microsoft.com/office/drawing/2014/main" id="{B8663263-E7CC-7859-8847-51DB31D15536}"/>
              </a:ext>
            </a:extLst>
          </p:cNvPr>
          <p:cNvPicPr>
            <a:picLocks noChangeAspect="1"/>
          </p:cNvPicPr>
          <p:nvPr/>
        </p:nvPicPr>
        <p:blipFill>
          <a:blip r:embed="rId4"/>
          <a:stretch>
            <a:fillRect/>
          </a:stretch>
        </p:blipFill>
        <p:spPr>
          <a:xfrm>
            <a:off x="608691" y="1044263"/>
            <a:ext cx="9983633" cy="500381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https://github.com/gungunjoshi/Social-media-agent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DBC87856-AF58-29AB-24E6-DA9289B79B59}"/>
              </a:ext>
            </a:extLst>
          </p:cNvPr>
          <p:cNvPicPr>
            <a:picLocks noChangeAspect="1"/>
          </p:cNvPicPr>
          <p:nvPr/>
        </p:nvPicPr>
        <p:blipFill>
          <a:blip r:embed="rId2"/>
          <a:stretch>
            <a:fillRect/>
          </a:stretch>
        </p:blipFill>
        <p:spPr>
          <a:xfrm>
            <a:off x="2853409" y="1501440"/>
            <a:ext cx="6485182" cy="485436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B12A3147-7056-9813-70EF-289237B51B10}"/>
              </a:ext>
            </a:extLst>
          </p:cNvPr>
          <p:cNvPicPr>
            <a:picLocks noChangeAspect="1"/>
          </p:cNvPicPr>
          <p:nvPr/>
        </p:nvPicPr>
        <p:blipFill>
          <a:blip r:embed="rId3"/>
          <a:stretch>
            <a:fillRect/>
          </a:stretch>
        </p:blipFill>
        <p:spPr>
          <a:xfrm>
            <a:off x="496843" y="773199"/>
            <a:ext cx="10522103" cy="585840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927</Words>
  <Application>Microsoft Office PowerPoint</Application>
  <PresentationFormat>Widescreen</PresentationFormat>
  <Paragraphs>81</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SOCIAL MEDIA AGENT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 .</cp:lastModifiedBy>
  <cp:revision>25</cp:revision>
  <dcterms:created xsi:type="dcterms:W3CDTF">2025-07-08T05:06:56Z</dcterms:created>
  <dcterms:modified xsi:type="dcterms:W3CDTF">2026-10-07T20:08:54Z</dcterms:modified>
</cp:coreProperties>
</file>